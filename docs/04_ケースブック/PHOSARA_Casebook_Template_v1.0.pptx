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HOSARA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02" name="brand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52500"/>
            <a:ext cx="1333500" cy="1390650"/>
          </a:xfrm>
          <a:prstGeom prst="rect">
            <a:avLst/>
          </a:prstGeom>
        </p:spPr>
      </p:pic>
      <p:pic>
        <p:nvPicPr>
          <p:cNvPr id="1003" name="brand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556000"/>
            <a:ext cx="4826000" cy="533400"/>
          </a:xfrm>
          <a:prstGeom prst="rect">
            <a:avLst/>
          </a:prstGeom>
        </p:spPr>
      </p:pic>
      <p:sp>
        <p:nvSpPr>
          <p:cNvPr id="1004" name="txt"/>
          <p:cNvSpPr txBox="1"/>
          <p:nvPr/>
        </p:nvSpPr>
        <p:spPr>
          <a:xfrm>
            <a:off x="990600" y="25908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800" spc="600">
                <a:solidFill>
                  <a:srgbClr val="E60012"/>
                </a:solidFill>
                <a:latin typeface="JetBrains Mono"/>
                <a:ea typeface="JetBrains Mono"/>
              </a:rPr>
              <a:t>PROMOTION CREATIVE CASEBOOK</a:t>
            </a:r>
          </a:p>
        </p:txBody>
      </p:sp>
      <p:sp>
        <p:nvSpPr>
          <p:cNvPr id="1005" name="txt"/>
          <p:cNvSpPr txBox="1"/>
          <p:nvPr/>
        </p:nvSpPr>
        <p:spPr>
          <a:xfrm>
            <a:off x="990600" y="4476750"/>
            <a:ext cx="9525000" cy="317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A7A8AB"/>
                </a:solidFill>
                <a:latin typeface="Noto Sans JP"/>
                <a:ea typeface="Noto Sans JP"/>
              </a:rPr>
              <a:t>Casebook — Promotion Creative Cases for Pachinko Halls</a:t>
            </a:r>
          </a:p>
        </p:txBody>
      </p:sp>
      <p:sp>
        <p:nvSpPr>
          <p:cNvPr id="1006" name="txt"/>
          <p:cNvSpPr txBox="1"/>
          <p:nvPr/>
        </p:nvSpPr>
        <p:spPr>
          <a:xfrm>
            <a:off x="9906000" y="6350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ja-JP" sz="2000">
                <a:solidFill>
                  <a:srgbClr val="6B6D72"/>
                </a:solidFill>
                <a:latin typeface="JetBrains Mono"/>
                <a:ea typeface="JetBrains Mono"/>
              </a:rPr>
              <a:t>Ver1.2 / 2026</a:t>
            </a:r>
          </a:p>
        </p:txBody>
      </p:sp>
      <p:sp>
        <p:nvSpPr>
          <p:cNvPr id="310" name="Text Placeholder 10"/>
          <p:cNvSpPr>
            <a:spLocks noGrp="1"/>
          </p:cNvSpPr>
          <p:nvPr>
            <p:ph type="body" idx="10"/>
          </p:nvPr>
        </p:nvSpPr>
        <p:spPr>
          <a:xfrm>
            <a:off x="990600" y="4953000"/>
            <a:ext cx="5969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>
                <a:solidFill>
                  <a:srgbClr val="76777B"/>
                </a:solidFill>
                <a:latin typeface="Noto Sans JP"/>
                <a:ea typeface="Noto Sans JP"/>
              </a:rPr>
              <a:t>（サブタイトル／édition：パチンコホール 販促セールス版）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HOSARA_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" name="txt"/>
          <p:cNvSpPr txBox="1"/>
          <p:nvPr/>
        </p:nvSpPr>
        <p:spPr>
          <a:xfrm>
            <a:off x="635000" y="1079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 spc="400">
                <a:solidFill>
                  <a:srgbClr val="6B6D72"/>
                </a:solidFill>
                <a:latin typeface="JetBrains Mono"/>
                <a:ea typeface="JetBrains Mono"/>
              </a:rPr>
              <a:t>ABOUT PHOSARA</a:t>
            </a:r>
          </a:p>
        </p:txBody>
      </p:sp>
      <p:pic>
        <p:nvPicPr>
          <p:cNvPr id="1009" name="brand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600" y="762000"/>
            <a:ext cx="762000" cy="793750"/>
          </a:xfrm>
          <a:prstGeom prst="rect">
            <a:avLst/>
          </a:prstGeom>
        </p:spPr>
      </p:pic>
      <p:sp>
        <p:nvSpPr>
          <p:cNvPr id="1010" name="rect"/>
          <p:cNvSpPr/>
          <p:nvPr/>
        </p:nvSpPr>
        <p:spPr>
          <a:xfrm>
            <a:off x="635000" y="4114800"/>
            <a:ext cx="4064000" cy="9525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" name="rect"/>
          <p:cNvSpPr/>
          <p:nvPr/>
        </p:nvSpPr>
        <p:spPr>
          <a:xfrm>
            <a:off x="635000" y="40894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Text Placeholder 10"/>
          <p:cNvSpPr>
            <a:spLocks noGrp="1"/>
          </p:cNvSpPr>
          <p:nvPr>
            <p:ph type="body" idx="10"/>
          </p:nvPr>
        </p:nvSpPr>
        <p:spPr>
          <a:xfrm>
            <a:off x="635000" y="2286000"/>
            <a:ext cx="102870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400">
                <a:solidFill>
                  <a:srgbClr val="16171B"/>
                </a:solidFill>
                <a:latin typeface="Noto Serif JP"/>
                <a:ea typeface="Noto Serif JP"/>
              </a:rPr>
              <a:t>見えない価値を、</a:t>
            </a:r>
          </a:p>
          <a:p>
            <a:pPr algn="l"/>
            <a:r>
              <a:rPr lang="ja-JP" sz="6400">
                <a:solidFill>
                  <a:srgbClr val="16171B"/>
                </a:solidFill>
                <a:latin typeface="Noto Serif JP"/>
                <a:ea typeface="Noto Serif JP"/>
              </a:rPr>
              <a:t>可視化する。</a:t>
            </a:r>
          </a:p>
        </p:txBody>
      </p:sp>
      <p:sp>
        <p:nvSpPr>
          <p:cNvPr id="311" name="Text Placeholder 11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8890000" cy="889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>
                <a:solidFill>
                  <a:srgbClr val="33343A"/>
                </a:solidFill>
                <a:latin typeface="Noto Sans JP"/>
                <a:ea typeface="Noto Sans JP"/>
              </a:rPr>
              <a:t>PHOSARAは、ポスターや媒体を売る会社ではありません。</a:t>
            </a:r>
          </a:p>
          <a:p>
            <a:pPr algn="l"/>
            <a:r>
              <a:rPr lang="ja-JP" sz="2600">
                <a:solidFill>
                  <a:srgbClr val="33343A"/>
                </a:solidFill>
                <a:latin typeface="Noto Sans JP"/>
                <a:ea typeface="Noto Sans JP"/>
              </a:rPr>
              <a:t>ホールの集客を「テーマ」で動かす、販促のクリエイティブ・パートナーです。</a:t>
            </a:r>
          </a:p>
        </p:txBody>
      </p:sp>
      <p:sp>
        <p:nvSpPr>
          <p:cNvPr id="1012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HOSARA_WH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" name="txt"/>
          <p:cNvSpPr txBox="1"/>
          <p:nvPr/>
        </p:nvSpPr>
        <p:spPr>
          <a:xfrm>
            <a:off x="635000" y="1079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 spc="400">
                <a:solidFill>
                  <a:srgbClr val="6B6D72"/>
                </a:solidFill>
                <a:latin typeface="JetBrains Mono"/>
                <a:ea typeface="JetBrains Mono"/>
              </a:rPr>
              <a:t>WHAT YOU RECEIVE</a:t>
            </a:r>
          </a:p>
        </p:txBody>
      </p:sp>
      <p:sp>
        <p:nvSpPr>
          <p:cNvPr id="1015" name="txt"/>
          <p:cNvSpPr txBox="1"/>
          <p:nvPr/>
        </p:nvSpPr>
        <p:spPr>
          <a:xfrm>
            <a:off x="635000" y="1333500"/>
            <a:ext cx="889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600" b="1">
                <a:solidFill>
                  <a:srgbClr val="16171B"/>
                </a:solidFill>
                <a:latin typeface="Noto Sans JP"/>
                <a:ea typeface="Noto Sans JP"/>
              </a:rPr>
              <a:t>PHOSARAが提供するもの</a:t>
            </a:r>
          </a:p>
        </p:txBody>
      </p:sp>
      <p:sp>
        <p:nvSpPr>
          <p:cNvPr id="210" name="Picture Placeholder 10"/>
          <p:cNvSpPr>
            <a:spLocks noGrp="1"/>
          </p:cNvSpPr>
          <p:nvPr>
            <p:ph type="pic" idx="10"/>
          </p:nvPr>
        </p:nvSpPr>
        <p:spPr>
          <a:xfrm>
            <a:off x="635000" y="2413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16" name="txt"/>
          <p:cNvSpPr txBox="1"/>
          <p:nvPr/>
        </p:nvSpPr>
        <p:spPr>
          <a:xfrm>
            <a:off x="635000" y="4051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キービジュアル</a:t>
            </a:r>
          </a:p>
        </p:txBody>
      </p:sp>
      <p:sp>
        <p:nvSpPr>
          <p:cNvPr id="211" name="Picture Placeholder 11"/>
          <p:cNvSpPr>
            <a:spLocks noGrp="1"/>
          </p:cNvSpPr>
          <p:nvPr>
            <p:ph type="pic" idx="11"/>
          </p:nvPr>
        </p:nvSpPr>
        <p:spPr>
          <a:xfrm>
            <a:off x="3429000" y="2413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17" name="txt"/>
          <p:cNvSpPr txBox="1"/>
          <p:nvPr/>
        </p:nvSpPr>
        <p:spPr>
          <a:xfrm>
            <a:off x="3429000" y="4051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A1・A3ポスター</a:t>
            </a:r>
          </a:p>
        </p:txBody>
      </p:sp>
      <p:sp>
        <p:nvSpPr>
          <p:cNvPr id="212" name="Picture Placeholder 12"/>
          <p:cNvSpPr>
            <a:spLocks noGrp="1"/>
          </p:cNvSpPr>
          <p:nvPr>
            <p:ph type="pic" idx="12"/>
          </p:nvPr>
        </p:nvSpPr>
        <p:spPr>
          <a:xfrm>
            <a:off x="6223000" y="2413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18" name="txt"/>
          <p:cNvSpPr txBox="1"/>
          <p:nvPr/>
        </p:nvSpPr>
        <p:spPr>
          <a:xfrm>
            <a:off x="6223000" y="4051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店頭POP</a:t>
            </a:r>
          </a:p>
        </p:txBody>
      </p:sp>
      <p:sp>
        <p:nvSpPr>
          <p:cNvPr id="213" name="Picture Placeholder 13"/>
          <p:cNvSpPr>
            <a:spLocks noGrp="1"/>
          </p:cNvSpPr>
          <p:nvPr>
            <p:ph type="pic" idx="13"/>
          </p:nvPr>
        </p:nvSpPr>
        <p:spPr>
          <a:xfrm>
            <a:off x="9017000" y="2413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19" name="txt"/>
          <p:cNvSpPr txBox="1"/>
          <p:nvPr/>
        </p:nvSpPr>
        <p:spPr>
          <a:xfrm>
            <a:off x="9017000" y="4051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LINE・SNS</a:t>
            </a:r>
          </a:p>
        </p:txBody>
      </p:sp>
      <p:sp>
        <p:nvSpPr>
          <p:cNvPr id="214" name="Picture Placeholder 14"/>
          <p:cNvSpPr>
            <a:spLocks noGrp="1"/>
          </p:cNvSpPr>
          <p:nvPr>
            <p:ph type="pic" idx="14"/>
          </p:nvPr>
        </p:nvSpPr>
        <p:spPr>
          <a:xfrm>
            <a:off x="635000" y="4445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20" name="txt"/>
          <p:cNvSpPr txBox="1"/>
          <p:nvPr/>
        </p:nvSpPr>
        <p:spPr>
          <a:xfrm>
            <a:off x="635000" y="6083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WEB・LP</a:t>
            </a:r>
          </a:p>
        </p:txBody>
      </p:sp>
      <p:sp>
        <p:nvSpPr>
          <p:cNvPr id="215" name="Picture Placeholder 15"/>
          <p:cNvSpPr>
            <a:spLocks noGrp="1"/>
          </p:cNvSpPr>
          <p:nvPr>
            <p:ph type="pic" idx="15"/>
          </p:nvPr>
        </p:nvSpPr>
        <p:spPr>
          <a:xfrm>
            <a:off x="3429000" y="4445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21" name="txt"/>
          <p:cNvSpPr txBox="1"/>
          <p:nvPr/>
        </p:nvSpPr>
        <p:spPr>
          <a:xfrm>
            <a:off x="3429000" y="6083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サイネージ動画</a:t>
            </a:r>
          </a:p>
        </p:txBody>
      </p:sp>
      <p:sp>
        <p:nvSpPr>
          <p:cNvPr id="216" name="Picture Placeholder 16"/>
          <p:cNvSpPr>
            <a:spLocks noGrp="1"/>
          </p:cNvSpPr>
          <p:nvPr>
            <p:ph type="pic" idx="16"/>
          </p:nvPr>
        </p:nvSpPr>
        <p:spPr>
          <a:xfrm>
            <a:off x="6223000" y="4445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22" name="txt"/>
          <p:cNvSpPr txBox="1"/>
          <p:nvPr/>
        </p:nvSpPr>
        <p:spPr>
          <a:xfrm>
            <a:off x="6223000" y="6083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入稿データ</a:t>
            </a:r>
          </a:p>
        </p:txBody>
      </p:sp>
      <p:sp>
        <p:nvSpPr>
          <p:cNvPr id="217" name="Picture Placeholder 17"/>
          <p:cNvSpPr>
            <a:spLocks noGrp="1"/>
          </p:cNvSpPr>
          <p:nvPr>
            <p:ph type="pic" idx="17"/>
          </p:nvPr>
        </p:nvSpPr>
        <p:spPr>
          <a:xfrm>
            <a:off x="9017000" y="4445000"/>
            <a:ext cx="2540000" cy="1587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作品 / ARTWORK</a:t>
            </a:r>
          </a:p>
        </p:txBody>
      </p:sp>
      <p:sp>
        <p:nvSpPr>
          <p:cNvPr id="1023" name="txt"/>
          <p:cNvSpPr txBox="1"/>
          <p:nvPr/>
        </p:nvSpPr>
        <p:spPr>
          <a:xfrm>
            <a:off x="9017000" y="60833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 b="1">
                <a:solidFill>
                  <a:srgbClr val="16171B"/>
                </a:solidFill>
                <a:latin typeface="Noto Sans JP"/>
                <a:ea typeface="Noto Sans JP"/>
              </a:rPr>
              <a:t>効果レポート</a:t>
            </a:r>
          </a:p>
        </p:txBody>
      </p:sp>
      <p:sp>
        <p:nvSpPr>
          <p:cNvPr id="1024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HOSARA_THE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6" name="txt"/>
          <p:cNvSpPr txBox="1"/>
          <p:nvPr/>
        </p:nvSpPr>
        <p:spPr>
          <a:xfrm>
            <a:off x="635000" y="1079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800" spc="300">
                <a:solidFill>
                  <a:srgbClr val="6B6D72"/>
                </a:solidFill>
                <a:latin typeface="JetBrains Mono"/>
                <a:ea typeface="JetBrains Mono"/>
              </a:rPr>
              <a:t>THEME MASTER — PACHINKO HALL PROMOTION</a:t>
            </a:r>
          </a:p>
        </p:txBody>
      </p:sp>
      <p:sp>
        <p:nvSpPr>
          <p:cNvPr id="1027" name="txt"/>
          <p:cNvSpPr txBox="1"/>
          <p:nvPr/>
        </p:nvSpPr>
        <p:spPr>
          <a:xfrm>
            <a:off x="635000" y="1333500"/>
            <a:ext cx="635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600" b="1">
                <a:solidFill>
                  <a:srgbClr val="16171B"/>
                </a:solidFill>
                <a:latin typeface="Noto Sans JP"/>
                <a:ea typeface="Noto Sans JP"/>
              </a:rPr>
              <a:t>対応テーマ</a:t>
            </a:r>
          </a:p>
        </p:txBody>
      </p:sp>
      <p:sp>
        <p:nvSpPr>
          <p:cNvPr id="1028" name="rect"/>
          <p:cNvSpPr/>
          <p:nvPr/>
        </p:nvSpPr>
        <p:spPr>
          <a:xfrm>
            <a:off x="635000" y="2159000"/>
            <a:ext cx="10922000" cy="7144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" name="rect"/>
          <p:cNvSpPr/>
          <p:nvPr/>
        </p:nvSpPr>
        <p:spPr>
          <a:xfrm>
            <a:off x="635000" y="21336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" name="txt"/>
          <p:cNvSpPr txBox="1"/>
          <p:nvPr/>
        </p:nvSpPr>
        <p:spPr>
          <a:xfrm>
            <a:off x="635000" y="2286000"/>
            <a:ext cx="444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800" spc="200">
                <a:solidFill>
                  <a:srgbClr val="6B6D72"/>
                </a:solidFill>
                <a:latin typeface="JetBrains Mono"/>
                <a:ea typeface="JetBrains Mono"/>
              </a:rPr>
              <a:t>通常販促 — REGULAR / T1</a:t>
            </a:r>
          </a:p>
        </p:txBody>
      </p:sp>
      <p:sp>
        <p:nvSpPr>
          <p:cNvPr id="1031" name="txt"/>
          <p:cNvSpPr txBox="1"/>
          <p:nvPr/>
        </p:nvSpPr>
        <p:spPr>
          <a:xfrm>
            <a:off x="635000" y="27305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T101</a:t>
            </a:r>
          </a:p>
        </p:txBody>
      </p:sp>
      <p:sp>
        <p:nvSpPr>
          <p:cNvPr id="1032" name="txt"/>
          <p:cNvSpPr txBox="1"/>
          <p:nvPr/>
        </p:nvSpPr>
        <p:spPr>
          <a:xfrm>
            <a:off x="1301750" y="27305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新台導入</a:t>
            </a:r>
          </a:p>
        </p:txBody>
      </p:sp>
      <p:sp>
        <p:nvSpPr>
          <p:cNvPr id="1033" name="txt"/>
          <p:cNvSpPr txBox="1"/>
          <p:nvPr/>
        </p:nvSpPr>
        <p:spPr>
          <a:xfrm>
            <a:off x="635000" y="31750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T102</a:t>
            </a:r>
          </a:p>
        </p:txBody>
      </p:sp>
      <p:sp>
        <p:nvSpPr>
          <p:cNvPr id="1034" name="txt"/>
          <p:cNvSpPr txBox="1"/>
          <p:nvPr/>
        </p:nvSpPr>
        <p:spPr>
          <a:xfrm>
            <a:off x="1301750" y="3175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オススメ機種</a:t>
            </a:r>
          </a:p>
        </p:txBody>
      </p:sp>
      <p:sp>
        <p:nvSpPr>
          <p:cNvPr id="1035" name="txt"/>
          <p:cNvSpPr txBox="1"/>
          <p:nvPr/>
        </p:nvSpPr>
        <p:spPr>
          <a:xfrm>
            <a:off x="635000" y="36195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T103</a:t>
            </a:r>
          </a:p>
        </p:txBody>
      </p:sp>
      <p:sp>
        <p:nvSpPr>
          <p:cNvPr id="1036" name="txt"/>
          <p:cNvSpPr txBox="1"/>
          <p:nvPr/>
        </p:nvSpPr>
        <p:spPr>
          <a:xfrm>
            <a:off x="1301750" y="36195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機種カテゴリー訴求</a:t>
            </a:r>
          </a:p>
        </p:txBody>
      </p:sp>
      <p:sp>
        <p:nvSpPr>
          <p:cNvPr id="1037" name="txt"/>
          <p:cNvSpPr txBox="1"/>
          <p:nvPr/>
        </p:nvSpPr>
        <p:spPr>
          <a:xfrm>
            <a:off x="635000" y="40640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T104</a:t>
            </a:r>
          </a:p>
        </p:txBody>
      </p:sp>
      <p:sp>
        <p:nvSpPr>
          <p:cNvPr id="1038" name="txt"/>
          <p:cNvSpPr txBox="1"/>
          <p:nvPr/>
        </p:nvSpPr>
        <p:spPr>
          <a:xfrm>
            <a:off x="1301750" y="4064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来店・ゲスト</a:t>
            </a:r>
          </a:p>
        </p:txBody>
      </p:sp>
      <p:sp>
        <p:nvSpPr>
          <p:cNvPr id="1039" name="txt"/>
          <p:cNvSpPr txBox="1"/>
          <p:nvPr/>
        </p:nvSpPr>
        <p:spPr>
          <a:xfrm>
            <a:off x="635000" y="45085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T105</a:t>
            </a:r>
          </a:p>
        </p:txBody>
      </p:sp>
      <p:sp>
        <p:nvSpPr>
          <p:cNvPr id="1040" name="txt"/>
          <p:cNvSpPr txBox="1"/>
          <p:nvPr/>
        </p:nvSpPr>
        <p:spPr>
          <a:xfrm>
            <a:off x="1301750" y="45085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景品プロモーション</a:t>
            </a:r>
          </a:p>
        </p:txBody>
      </p:sp>
      <p:sp>
        <p:nvSpPr>
          <p:cNvPr id="1041" name="txt"/>
          <p:cNvSpPr txBox="1"/>
          <p:nvPr/>
        </p:nvSpPr>
        <p:spPr>
          <a:xfrm>
            <a:off x="6413500" y="27305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T106</a:t>
            </a:r>
          </a:p>
        </p:txBody>
      </p:sp>
      <p:sp>
        <p:nvSpPr>
          <p:cNvPr id="1042" name="txt"/>
          <p:cNvSpPr txBox="1"/>
          <p:nvPr/>
        </p:nvSpPr>
        <p:spPr>
          <a:xfrm>
            <a:off x="7080250" y="27305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週末プロモーション</a:t>
            </a:r>
          </a:p>
        </p:txBody>
      </p:sp>
      <p:sp>
        <p:nvSpPr>
          <p:cNvPr id="1043" name="txt"/>
          <p:cNvSpPr txBox="1"/>
          <p:nvPr/>
        </p:nvSpPr>
        <p:spPr>
          <a:xfrm>
            <a:off x="6413500" y="31750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T107</a:t>
            </a:r>
          </a:p>
        </p:txBody>
      </p:sp>
      <p:sp>
        <p:nvSpPr>
          <p:cNvPr id="1044" name="txt"/>
          <p:cNvSpPr txBox="1"/>
          <p:nvPr/>
        </p:nvSpPr>
        <p:spPr>
          <a:xfrm>
            <a:off x="7080250" y="3175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営業スケジュール</a:t>
            </a:r>
          </a:p>
        </p:txBody>
      </p:sp>
      <p:sp>
        <p:nvSpPr>
          <p:cNvPr id="1045" name="txt"/>
          <p:cNvSpPr txBox="1"/>
          <p:nvPr/>
        </p:nvSpPr>
        <p:spPr>
          <a:xfrm>
            <a:off x="6413500" y="36195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T109</a:t>
            </a:r>
          </a:p>
        </p:txBody>
      </p:sp>
      <p:sp>
        <p:nvSpPr>
          <p:cNvPr id="1046" name="txt"/>
          <p:cNvSpPr txBox="1"/>
          <p:nvPr/>
        </p:nvSpPr>
        <p:spPr>
          <a:xfrm>
            <a:off x="7080250" y="36195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付加価値訴求</a:t>
            </a:r>
          </a:p>
        </p:txBody>
      </p:sp>
      <p:sp>
        <p:nvSpPr>
          <p:cNvPr id="1047" name="txt"/>
          <p:cNvSpPr txBox="1"/>
          <p:nvPr/>
        </p:nvSpPr>
        <p:spPr>
          <a:xfrm>
            <a:off x="6413500" y="40640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T110</a:t>
            </a:r>
          </a:p>
        </p:txBody>
      </p:sp>
      <p:sp>
        <p:nvSpPr>
          <p:cNvPr id="1048" name="txt"/>
          <p:cNvSpPr txBox="1"/>
          <p:nvPr/>
        </p:nvSpPr>
        <p:spPr>
          <a:xfrm>
            <a:off x="7080250" y="4064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会員募集</a:t>
            </a:r>
          </a:p>
        </p:txBody>
      </p:sp>
      <p:sp>
        <p:nvSpPr>
          <p:cNvPr id="1049" name="rect"/>
          <p:cNvSpPr/>
          <p:nvPr/>
        </p:nvSpPr>
        <p:spPr>
          <a:xfrm>
            <a:off x="6413500" y="4572000"/>
            <a:ext cx="5143500" cy="7144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0" name="rect"/>
          <p:cNvSpPr/>
          <p:nvPr/>
        </p:nvSpPr>
        <p:spPr>
          <a:xfrm>
            <a:off x="6413500" y="45466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1" name="txt"/>
          <p:cNvSpPr txBox="1"/>
          <p:nvPr/>
        </p:nvSpPr>
        <p:spPr>
          <a:xfrm>
            <a:off x="6413500" y="4711700"/>
            <a:ext cx="444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800" spc="200">
                <a:solidFill>
                  <a:srgbClr val="6B6D72"/>
                </a:solidFill>
                <a:latin typeface="JetBrains Mono"/>
                <a:ea typeface="JetBrains Mono"/>
              </a:rPr>
              <a:t>記念・特別 — SPECIAL / T2</a:t>
            </a:r>
          </a:p>
        </p:txBody>
      </p:sp>
      <p:sp>
        <p:nvSpPr>
          <p:cNvPr id="1052" name="txt"/>
          <p:cNvSpPr txBox="1"/>
          <p:nvPr/>
        </p:nvSpPr>
        <p:spPr>
          <a:xfrm>
            <a:off x="6413500" y="51435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>
                <a:solidFill>
                  <a:srgbClr val="E60012"/>
                </a:solidFill>
                <a:latin typeface="JetBrains Mono"/>
                <a:ea typeface="JetBrains Mono"/>
              </a:rPr>
              <a:t>T201</a:t>
            </a:r>
          </a:p>
        </p:txBody>
      </p:sp>
      <p:sp>
        <p:nvSpPr>
          <p:cNvPr id="1053" name="txt"/>
          <p:cNvSpPr txBox="1"/>
          <p:nvPr/>
        </p:nvSpPr>
        <p:spPr>
          <a:xfrm>
            <a:off x="7080250" y="51435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800">
                <a:solidFill>
                  <a:srgbClr val="16171B"/>
                </a:solidFill>
                <a:latin typeface="Noto Sans JP"/>
                <a:ea typeface="Noto Sans JP"/>
              </a:rPr>
              <a:t>周年プロモーション</a:t>
            </a:r>
          </a:p>
        </p:txBody>
      </p:sp>
      <p:sp>
        <p:nvSpPr>
          <p:cNvPr id="1054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OSARA_CASE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Picture Placeholder 10"/>
          <p:cNvSpPr>
            <a:spLocks noGrp="1"/>
          </p:cNvSpPr>
          <p:nvPr>
            <p:ph type="pic" idx="10"/>
          </p:nvPr>
        </p:nvSpPr>
        <p:spPr>
          <a:xfrm>
            <a:off x="952500" y="762000"/>
            <a:ext cx="6223000" cy="5334000"/>
          </a:xfrm>
          <a:prstGeom prst="rect">
            <a:avLst/>
          </a:prstGeom>
          <a:solidFill>
            <a:srgbClr val="1C1D20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6B6D72"/>
                </a:solidFill>
                <a:latin typeface="JetBrains Mono"/>
              </a:rPr>
              <a:t>A1 ヒーローアートワーク / HERO ARTWORK</a:t>
            </a:r>
          </a:p>
        </p:txBody>
      </p:sp>
      <p:sp>
        <p:nvSpPr>
          <p:cNvPr id="1056" name="txt"/>
          <p:cNvSpPr txBox="1"/>
          <p:nvPr/>
        </p:nvSpPr>
        <p:spPr>
          <a:xfrm>
            <a:off x="7620000" y="1270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1000" b="1">
                <a:solidFill>
                  <a:srgbClr val="FFFFFF"/>
                </a:solidFill>
                <a:latin typeface="Archivo Expanded"/>
                <a:ea typeface="Archivo Expanded"/>
              </a:rPr>
              <a:t>CASE</a:t>
            </a:r>
          </a:p>
        </p:txBody>
      </p:sp>
      <p:sp>
        <p:nvSpPr>
          <p:cNvPr id="311" name="Text Placeholder 11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9600" b="1">
                <a:solidFill>
                  <a:srgbClr val="E60012"/>
                </a:solidFill>
                <a:latin typeface="Archivo Expanded"/>
                <a:ea typeface="Archivo Expanded"/>
              </a:rPr>
              <a:t>01</a:t>
            </a:r>
          </a:p>
        </p:txBody>
      </p:sp>
      <p:sp>
        <p:nvSpPr>
          <p:cNvPr id="312" name="Text Placeholder 12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>
                <a:solidFill>
                  <a:srgbClr val="E60012"/>
                </a:solidFill>
                <a:latin typeface="JetBrains Mono"/>
                <a:ea typeface="JetBrains Mono"/>
              </a:rPr>
              <a:t>T101</a:t>
            </a:r>
          </a:p>
        </p:txBody>
      </p:sp>
      <p:sp>
        <p:nvSpPr>
          <p:cNvPr id="313" name="Text Placeholder 13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4000">
                <a:solidFill>
                  <a:srgbClr val="A7A8AB"/>
                </a:solidFill>
                <a:latin typeface="Noto Sans JP"/>
                <a:ea typeface="Noto Sans JP"/>
              </a:rPr>
              <a:t>新台導入</a:t>
            </a:r>
          </a:p>
        </p:txBody>
      </p:sp>
      <p:sp>
        <p:nvSpPr>
          <p:cNvPr id="314" name="Text Placeholder 14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>
                <a:solidFill>
                  <a:srgbClr val="76777B"/>
                </a:solidFill>
                <a:latin typeface="Noto Sans JP"/>
                <a:ea typeface="Noto Sans JP"/>
              </a:rPr>
              <a:t>（キャッチコピーを入力）</a:t>
            </a:r>
          </a:p>
        </p:txBody>
      </p:sp>
      <p:sp>
        <p:nvSpPr>
          <p:cNvPr id="1057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HOSARA_CASE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" name="txt"/>
          <p:cNvSpPr txBox="1"/>
          <p:nvPr/>
        </p:nvSpPr>
        <p:spPr>
          <a:xfrm>
            <a:off x="635000" y="952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 spc="400">
                <a:solidFill>
                  <a:srgbClr val="6B6D72"/>
                </a:solidFill>
                <a:latin typeface="JetBrains Mono"/>
                <a:ea typeface="JetBrains Mono"/>
              </a:rPr>
              <a:t>MEDIA DEPLOYMENT</a:t>
            </a:r>
          </a:p>
        </p:txBody>
      </p:sp>
      <p:sp>
        <p:nvSpPr>
          <p:cNvPr id="210" name="Picture Placeholder 10"/>
          <p:cNvSpPr>
            <a:spLocks noGrp="1"/>
          </p:cNvSpPr>
          <p:nvPr>
            <p:ph type="pic" idx="10"/>
          </p:nvPr>
        </p:nvSpPr>
        <p:spPr>
          <a:xfrm>
            <a:off x="635000" y="1333500"/>
            <a:ext cx="2095500" cy="2984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A3 / 媒体</a:t>
            </a:r>
          </a:p>
        </p:txBody>
      </p:sp>
      <p:sp>
        <p:nvSpPr>
          <p:cNvPr id="1060" name="txt"/>
          <p:cNvSpPr txBox="1"/>
          <p:nvPr/>
        </p:nvSpPr>
        <p:spPr>
          <a:xfrm>
            <a:off x="635000" y="43688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6B6D72"/>
                </a:solidFill>
                <a:latin typeface="JetBrains Mono"/>
                <a:ea typeface="JetBrains Mono"/>
              </a:rPr>
              <a:t>A3</a:t>
            </a:r>
          </a:p>
        </p:txBody>
      </p:sp>
      <p:sp>
        <p:nvSpPr>
          <p:cNvPr id="211" name="Picture Placeholder 11"/>
          <p:cNvSpPr>
            <a:spLocks noGrp="1"/>
          </p:cNvSpPr>
          <p:nvPr>
            <p:ph type="pic" idx="11"/>
          </p:nvPr>
        </p:nvSpPr>
        <p:spPr>
          <a:xfrm>
            <a:off x="2921000" y="1333500"/>
            <a:ext cx="2095500" cy="2984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LINE / 媒体</a:t>
            </a:r>
          </a:p>
        </p:txBody>
      </p:sp>
      <p:sp>
        <p:nvSpPr>
          <p:cNvPr id="1061" name="txt"/>
          <p:cNvSpPr txBox="1"/>
          <p:nvPr/>
        </p:nvSpPr>
        <p:spPr>
          <a:xfrm>
            <a:off x="2921000" y="43688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6B6D72"/>
                </a:solidFill>
                <a:latin typeface="JetBrains Mono"/>
                <a:ea typeface="JetBrains Mono"/>
              </a:rPr>
              <a:t>LINE</a:t>
            </a:r>
          </a:p>
        </p:txBody>
      </p:sp>
      <p:sp>
        <p:nvSpPr>
          <p:cNvPr id="212" name="Picture Placeholder 12"/>
          <p:cNvSpPr>
            <a:spLocks noGrp="1"/>
          </p:cNvSpPr>
          <p:nvPr>
            <p:ph type="pic" idx="12"/>
          </p:nvPr>
        </p:nvSpPr>
        <p:spPr>
          <a:xfrm>
            <a:off x="5207000" y="1333500"/>
            <a:ext cx="2095500" cy="2984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WEB / 媒体</a:t>
            </a:r>
          </a:p>
        </p:txBody>
      </p:sp>
      <p:sp>
        <p:nvSpPr>
          <p:cNvPr id="1062" name="txt"/>
          <p:cNvSpPr txBox="1"/>
          <p:nvPr/>
        </p:nvSpPr>
        <p:spPr>
          <a:xfrm>
            <a:off x="5207000" y="43688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6B6D72"/>
                </a:solidFill>
                <a:latin typeface="JetBrains Mono"/>
                <a:ea typeface="JetBrains Mono"/>
              </a:rPr>
              <a:t>WEB</a:t>
            </a:r>
          </a:p>
        </p:txBody>
      </p:sp>
      <p:sp>
        <p:nvSpPr>
          <p:cNvPr id="213" name="Picture Placeholder 13"/>
          <p:cNvSpPr>
            <a:spLocks noGrp="1"/>
          </p:cNvSpPr>
          <p:nvPr>
            <p:ph type="pic" idx="13"/>
          </p:nvPr>
        </p:nvSpPr>
        <p:spPr>
          <a:xfrm>
            <a:off x="7493000" y="1333500"/>
            <a:ext cx="2095500" cy="2984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SNS / 媒体</a:t>
            </a:r>
          </a:p>
        </p:txBody>
      </p:sp>
      <p:sp>
        <p:nvSpPr>
          <p:cNvPr id="1063" name="txt"/>
          <p:cNvSpPr txBox="1"/>
          <p:nvPr/>
        </p:nvSpPr>
        <p:spPr>
          <a:xfrm>
            <a:off x="7493000" y="43688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6B6D72"/>
                </a:solidFill>
                <a:latin typeface="JetBrains Mono"/>
                <a:ea typeface="JetBrains Mono"/>
              </a:rPr>
              <a:t>SNS</a:t>
            </a:r>
          </a:p>
        </p:txBody>
      </p:sp>
      <p:sp>
        <p:nvSpPr>
          <p:cNvPr id="214" name="Picture Placeholder 14"/>
          <p:cNvSpPr>
            <a:spLocks noGrp="1"/>
          </p:cNvSpPr>
          <p:nvPr>
            <p:ph type="pic" idx="14"/>
          </p:nvPr>
        </p:nvSpPr>
        <p:spPr>
          <a:xfrm>
            <a:off x="9779000" y="1333500"/>
            <a:ext cx="2095500" cy="2984500"/>
          </a:xfrm>
          <a:prstGeom prst="rect">
            <a:avLst/>
          </a:prstGeom>
          <a:solidFill>
            <a:srgbClr val="ECECE6"/>
          </a:solidFill>
        </p:spPr>
        <p:txBody>
          <a:bodyPr anchor="ctr"/>
          <a:lstStyle/>
          <a:p>
            <a:pPr algn="ctr"/>
            <a:r>
              <a:rPr lang="ja-JP" sz="1100">
                <a:solidFill>
                  <a:srgbClr val="9A9C9F"/>
                </a:solidFill>
                <a:latin typeface="JetBrains Mono"/>
              </a:rPr>
              <a:t>SIGNAGE / 媒体</a:t>
            </a:r>
          </a:p>
        </p:txBody>
      </p:sp>
      <p:sp>
        <p:nvSpPr>
          <p:cNvPr id="1064" name="txt"/>
          <p:cNvSpPr txBox="1"/>
          <p:nvPr/>
        </p:nvSpPr>
        <p:spPr>
          <a:xfrm>
            <a:off x="9779000" y="43688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6B6D72"/>
                </a:solidFill>
                <a:latin typeface="JetBrains Mono"/>
                <a:ea typeface="JetBrains Mono"/>
              </a:rPr>
              <a:t>SIGNAGE</a:t>
            </a:r>
          </a:p>
        </p:txBody>
      </p:sp>
      <p:sp>
        <p:nvSpPr>
          <p:cNvPr id="1065" name="rect"/>
          <p:cNvSpPr/>
          <p:nvPr/>
        </p:nvSpPr>
        <p:spPr>
          <a:xfrm>
            <a:off x="635000" y="5613400"/>
            <a:ext cx="10922000" cy="7144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" name="rect"/>
          <p:cNvSpPr/>
          <p:nvPr/>
        </p:nvSpPr>
        <p:spPr>
          <a:xfrm>
            <a:off x="635000" y="55880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" name="txt"/>
          <p:cNvSpPr txBox="1"/>
          <p:nvPr/>
        </p:nvSpPr>
        <p:spPr>
          <a:xfrm>
            <a:off x="635000" y="5746750"/>
            <a:ext cx="2159000" cy="165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 spc="100">
                <a:solidFill>
                  <a:srgbClr val="6B6D72"/>
                </a:solidFill>
                <a:latin typeface="JetBrains Mono"/>
                <a:ea typeface="JetBrains Mono"/>
              </a:rPr>
              <a:t>THEME</a:t>
            </a:r>
          </a:p>
        </p:txBody>
      </p:sp>
      <p:sp>
        <p:nvSpPr>
          <p:cNvPr id="1068" name="txt"/>
          <p:cNvSpPr txBox="1"/>
          <p:nvPr/>
        </p:nvSpPr>
        <p:spPr>
          <a:xfrm>
            <a:off x="2832100" y="5746750"/>
            <a:ext cx="2159000" cy="165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 spc="100">
                <a:solidFill>
                  <a:srgbClr val="6B6D72"/>
                </a:solidFill>
                <a:latin typeface="JetBrains Mono"/>
                <a:ea typeface="JetBrains Mono"/>
              </a:rPr>
              <a:t>MEDIA USED</a:t>
            </a:r>
          </a:p>
        </p:txBody>
      </p:sp>
      <p:sp>
        <p:nvSpPr>
          <p:cNvPr id="1069" name="txt"/>
          <p:cNvSpPr txBox="1"/>
          <p:nvPr/>
        </p:nvSpPr>
        <p:spPr>
          <a:xfrm>
            <a:off x="5029200" y="5746750"/>
            <a:ext cx="2159000" cy="165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 spc="100">
                <a:solidFill>
                  <a:srgbClr val="6B6D72"/>
                </a:solidFill>
                <a:latin typeface="JetBrains Mono"/>
                <a:ea typeface="JetBrains Mono"/>
              </a:rPr>
              <a:t>DELIVERABLES</a:t>
            </a:r>
          </a:p>
        </p:txBody>
      </p:sp>
      <p:sp>
        <p:nvSpPr>
          <p:cNvPr id="1070" name="txt"/>
          <p:cNvSpPr txBox="1"/>
          <p:nvPr/>
        </p:nvSpPr>
        <p:spPr>
          <a:xfrm>
            <a:off x="7226300" y="5746750"/>
            <a:ext cx="2159000" cy="165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 spc="100">
                <a:solidFill>
                  <a:srgbClr val="6B6D72"/>
                </a:solidFill>
                <a:latin typeface="JetBrains Mono"/>
                <a:ea typeface="JetBrains Mono"/>
              </a:rPr>
              <a:t>SUGGESTED PLAN</a:t>
            </a:r>
          </a:p>
        </p:txBody>
      </p:sp>
      <p:sp>
        <p:nvSpPr>
          <p:cNvPr id="1071" name="txt"/>
          <p:cNvSpPr txBox="1"/>
          <p:nvPr/>
        </p:nvSpPr>
        <p:spPr>
          <a:xfrm>
            <a:off x="9423400" y="5746750"/>
            <a:ext cx="2159000" cy="165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 spc="100">
                <a:solidFill>
                  <a:srgbClr val="6B6D72"/>
                </a:solidFill>
                <a:latin typeface="JetBrains Mono"/>
                <a:ea typeface="JetBrains Mono"/>
              </a:rPr>
              <a:t>EST. TIME</a:t>
            </a:r>
          </a:p>
        </p:txBody>
      </p:sp>
      <p:sp>
        <p:nvSpPr>
          <p:cNvPr id="320" name="Text Placeholder 20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100" b="1">
                <a:solidFill>
                  <a:srgbClr val="16171B"/>
                </a:solidFill>
                <a:latin typeface="Noto Sans JP"/>
                <a:ea typeface="Noto Sans JP"/>
              </a:rPr>
              <a:t>新台導入</a:t>
            </a:r>
          </a:p>
        </p:txBody>
      </p:sp>
      <p:sp>
        <p:nvSpPr>
          <p:cNvPr id="321" name="Text Placeholder 21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16171B"/>
                </a:solidFill>
                <a:latin typeface="JetBrains Mono"/>
                <a:ea typeface="JetBrains Mono"/>
              </a:rPr>
              <a:t>A1/A3/POP/LINE/WEB/SNS/Sign</a:t>
            </a:r>
          </a:p>
        </p:txBody>
      </p:sp>
      <p:sp>
        <p:nvSpPr>
          <p:cNvPr id="322" name="Text Placeholder 22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100" b="1">
                <a:solidFill>
                  <a:srgbClr val="16171B"/>
                </a:solidFill>
                <a:latin typeface="Noto Sans JP"/>
                <a:ea typeface="Noto Sans JP"/>
              </a:rPr>
              <a:t>12 点</a:t>
            </a:r>
          </a:p>
        </p:txBody>
      </p:sp>
      <p:sp>
        <p:nvSpPr>
          <p:cNvPr id="323" name="Text Placeholder 23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100" b="1">
                <a:solidFill>
                  <a:srgbClr val="E60012"/>
                </a:solidFill>
                <a:latin typeface="Noto Sans JP"/>
                <a:ea typeface="Noto Sans JP"/>
              </a:rPr>
              <a:t>PREMIUM</a:t>
            </a:r>
          </a:p>
        </p:txBody>
      </p:sp>
      <p:sp>
        <p:nvSpPr>
          <p:cNvPr id="324" name="Text Placeholder 24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100" b="1">
                <a:solidFill>
                  <a:srgbClr val="16171B"/>
                </a:solidFill>
                <a:latin typeface="Noto Sans JP"/>
                <a:ea typeface="Noto Sans JP"/>
              </a:rPr>
              <a:t>10–14営業日</a:t>
            </a:r>
          </a:p>
        </p:txBody>
      </p:sp>
      <p:sp>
        <p:nvSpPr>
          <p:cNvPr id="1072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HOSARA_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" name="txt"/>
          <p:cNvSpPr txBox="1"/>
          <p:nvPr/>
        </p:nvSpPr>
        <p:spPr>
          <a:xfrm>
            <a:off x="635000" y="1079500"/>
            <a:ext cx="571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 spc="400">
                <a:solidFill>
                  <a:srgbClr val="6B6D72"/>
                </a:solidFill>
                <a:latin typeface="JetBrains Mono"/>
                <a:ea typeface="JetBrains Mono"/>
              </a:rPr>
              <a:t>SERVICE MENU — BY THEME</a:t>
            </a:r>
          </a:p>
        </p:txBody>
      </p:sp>
      <p:sp>
        <p:nvSpPr>
          <p:cNvPr id="1075" name="txt"/>
          <p:cNvSpPr txBox="1"/>
          <p:nvPr/>
        </p:nvSpPr>
        <p:spPr>
          <a:xfrm>
            <a:off x="635000" y="1301750"/>
            <a:ext cx="952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000" b="1">
                <a:solidFill>
                  <a:srgbClr val="16171B"/>
                </a:solidFill>
                <a:latin typeface="Noto Sans JP"/>
                <a:ea typeface="Noto Sans JP"/>
              </a:rPr>
              <a:t>テーマで売る、成果で応える。</a:t>
            </a:r>
          </a:p>
        </p:txBody>
      </p:sp>
      <p:sp>
        <p:nvSpPr>
          <p:cNvPr id="1076" name="txt"/>
          <p:cNvSpPr txBox="1"/>
          <p:nvPr/>
        </p:nvSpPr>
        <p:spPr>
          <a:xfrm>
            <a:off x="635000" y="19050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>
                <a:solidFill>
                  <a:srgbClr val="6B6D72"/>
                </a:solidFill>
                <a:latin typeface="Noto Sans JP"/>
                <a:ea typeface="Noto Sans JP"/>
              </a:rPr>
              <a:t>買うのは「媒体」ではなく、販促の「成果」。だからサービスもテーマ単位で構成する。</a:t>
            </a:r>
          </a:p>
        </p:txBody>
      </p:sp>
      <p:sp>
        <p:nvSpPr>
          <p:cNvPr id="1077" name="rect"/>
          <p:cNvSpPr/>
          <p:nvPr/>
        </p:nvSpPr>
        <p:spPr>
          <a:xfrm>
            <a:off x="635000" y="2400300"/>
            <a:ext cx="5080000" cy="7144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" name="rect"/>
          <p:cNvSpPr/>
          <p:nvPr/>
        </p:nvSpPr>
        <p:spPr>
          <a:xfrm>
            <a:off x="635000" y="23749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9" name="rect"/>
          <p:cNvSpPr/>
          <p:nvPr/>
        </p:nvSpPr>
        <p:spPr>
          <a:xfrm>
            <a:off x="6413500" y="2400300"/>
            <a:ext cx="5143500" cy="7144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0" name="rect"/>
          <p:cNvSpPr/>
          <p:nvPr/>
        </p:nvSpPr>
        <p:spPr>
          <a:xfrm>
            <a:off x="6413500" y="23749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1" name="txt"/>
          <p:cNvSpPr txBox="1"/>
          <p:nvPr/>
        </p:nvSpPr>
        <p:spPr>
          <a:xfrm>
            <a:off x="635000" y="27940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 b="1">
                <a:solidFill>
                  <a:srgbClr val="16171B"/>
                </a:solidFill>
                <a:latin typeface="Noto Sans JP"/>
                <a:ea typeface="Noto Sans JP"/>
              </a:rPr>
              <a:t>新台導入</a:t>
            </a:r>
          </a:p>
        </p:txBody>
      </p:sp>
      <p:sp>
        <p:nvSpPr>
          <p:cNvPr id="1082" name="txt"/>
          <p:cNvSpPr txBox="1"/>
          <p:nvPr/>
        </p:nvSpPr>
        <p:spPr>
          <a:xfrm>
            <a:off x="635000" y="3073400"/>
            <a:ext cx="5080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9A9C9F"/>
                </a:solidFill>
                <a:latin typeface="JetBrains Mono"/>
                <a:ea typeface="JetBrains Mono"/>
              </a:rPr>
              <a:t>新台の熱を開店前から最大化</a:t>
            </a:r>
          </a:p>
        </p:txBody>
      </p:sp>
      <p:sp>
        <p:nvSpPr>
          <p:cNvPr id="1083" name="txt"/>
          <p:cNvSpPr txBox="1"/>
          <p:nvPr/>
        </p:nvSpPr>
        <p:spPr>
          <a:xfrm>
            <a:off x="635000" y="3492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 b="1">
                <a:solidFill>
                  <a:srgbClr val="16171B"/>
                </a:solidFill>
                <a:latin typeface="Noto Sans JP"/>
                <a:ea typeface="Noto Sans JP"/>
              </a:rPr>
              <a:t>景品プロモーション</a:t>
            </a:r>
          </a:p>
        </p:txBody>
      </p:sp>
      <p:sp>
        <p:nvSpPr>
          <p:cNvPr id="1084" name="txt"/>
          <p:cNvSpPr txBox="1"/>
          <p:nvPr/>
        </p:nvSpPr>
        <p:spPr>
          <a:xfrm>
            <a:off x="635000" y="3771900"/>
            <a:ext cx="5080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9A9C9F"/>
                </a:solidFill>
                <a:latin typeface="JetBrains Mono"/>
                <a:ea typeface="JetBrains Mono"/>
              </a:rPr>
              <a:t>欲しい景品で来店動機をつくる</a:t>
            </a:r>
          </a:p>
        </p:txBody>
      </p:sp>
      <p:sp>
        <p:nvSpPr>
          <p:cNvPr id="1085" name="txt"/>
          <p:cNvSpPr txBox="1"/>
          <p:nvPr/>
        </p:nvSpPr>
        <p:spPr>
          <a:xfrm>
            <a:off x="635000" y="41910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 b="1">
                <a:solidFill>
                  <a:srgbClr val="16171B"/>
                </a:solidFill>
                <a:latin typeface="Noto Sans JP"/>
                <a:ea typeface="Noto Sans JP"/>
              </a:rPr>
              <a:t>ゲスト来店</a:t>
            </a:r>
          </a:p>
        </p:txBody>
      </p:sp>
      <p:sp>
        <p:nvSpPr>
          <p:cNvPr id="1086" name="txt"/>
          <p:cNvSpPr txBox="1"/>
          <p:nvPr/>
        </p:nvSpPr>
        <p:spPr>
          <a:xfrm>
            <a:off x="635000" y="4470400"/>
            <a:ext cx="5080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9A9C9F"/>
                </a:solidFill>
                <a:latin typeface="JetBrains Mono"/>
                <a:ea typeface="JetBrains Mono"/>
              </a:rPr>
              <a:t>演者・タレント来店で集客の山を</a:t>
            </a:r>
          </a:p>
        </p:txBody>
      </p:sp>
      <p:sp>
        <p:nvSpPr>
          <p:cNvPr id="1087" name="txt"/>
          <p:cNvSpPr txBox="1"/>
          <p:nvPr/>
        </p:nvSpPr>
        <p:spPr>
          <a:xfrm>
            <a:off x="635000" y="4889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 b="1">
                <a:solidFill>
                  <a:srgbClr val="16171B"/>
                </a:solidFill>
                <a:latin typeface="Noto Sans JP"/>
                <a:ea typeface="Noto Sans JP"/>
              </a:rPr>
              <a:t>周年プロモーション</a:t>
            </a:r>
          </a:p>
        </p:txBody>
      </p:sp>
      <p:sp>
        <p:nvSpPr>
          <p:cNvPr id="1088" name="txt"/>
          <p:cNvSpPr txBox="1"/>
          <p:nvPr/>
        </p:nvSpPr>
        <p:spPr>
          <a:xfrm>
            <a:off x="635000" y="5168900"/>
            <a:ext cx="5080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9A9C9F"/>
                </a:solidFill>
                <a:latin typeface="JetBrains Mono"/>
                <a:ea typeface="JetBrains Mono"/>
              </a:rPr>
              <a:t>節目を一年で最大の山にする</a:t>
            </a:r>
          </a:p>
        </p:txBody>
      </p:sp>
      <p:sp>
        <p:nvSpPr>
          <p:cNvPr id="1089" name="txt"/>
          <p:cNvSpPr txBox="1"/>
          <p:nvPr/>
        </p:nvSpPr>
        <p:spPr>
          <a:xfrm>
            <a:off x="6413500" y="27940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 b="1">
                <a:solidFill>
                  <a:srgbClr val="16171B"/>
                </a:solidFill>
                <a:latin typeface="Noto Sans JP"/>
                <a:ea typeface="Noto Sans JP"/>
              </a:rPr>
              <a:t>会員募集</a:t>
            </a:r>
          </a:p>
        </p:txBody>
      </p:sp>
      <p:sp>
        <p:nvSpPr>
          <p:cNvPr id="1090" name="txt"/>
          <p:cNvSpPr txBox="1"/>
          <p:nvPr/>
        </p:nvSpPr>
        <p:spPr>
          <a:xfrm>
            <a:off x="6413500" y="3073400"/>
            <a:ext cx="5080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9A9C9F"/>
                </a:solidFill>
                <a:latin typeface="JetBrains Mono"/>
                <a:ea typeface="JetBrains Mono"/>
              </a:rPr>
              <a:t>会員化でリピートを設計</a:t>
            </a:r>
          </a:p>
        </p:txBody>
      </p:sp>
      <p:sp>
        <p:nvSpPr>
          <p:cNvPr id="1091" name="txt"/>
          <p:cNvSpPr txBox="1"/>
          <p:nvPr/>
        </p:nvSpPr>
        <p:spPr>
          <a:xfrm>
            <a:off x="6413500" y="3492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 b="1">
                <a:solidFill>
                  <a:srgbClr val="16171B"/>
                </a:solidFill>
                <a:latin typeface="Noto Sans JP"/>
                <a:ea typeface="Noto Sans JP"/>
              </a:rPr>
              <a:t>営業スケジュール</a:t>
            </a:r>
          </a:p>
        </p:txBody>
      </p:sp>
      <p:sp>
        <p:nvSpPr>
          <p:cNvPr id="1092" name="txt"/>
          <p:cNvSpPr txBox="1"/>
          <p:nvPr/>
        </p:nvSpPr>
        <p:spPr>
          <a:xfrm>
            <a:off x="6413500" y="3771900"/>
            <a:ext cx="5080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9A9C9F"/>
                </a:solidFill>
                <a:latin typeface="JetBrains Mono"/>
                <a:ea typeface="JetBrains Mono"/>
              </a:rPr>
              <a:t>営業日・時間を分かりやすく告知</a:t>
            </a:r>
          </a:p>
        </p:txBody>
      </p:sp>
      <p:sp>
        <p:nvSpPr>
          <p:cNvPr id="1093" name="txt"/>
          <p:cNvSpPr txBox="1"/>
          <p:nvPr/>
        </p:nvSpPr>
        <p:spPr>
          <a:xfrm>
            <a:off x="6413500" y="41910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 b="1">
                <a:solidFill>
                  <a:srgbClr val="16171B"/>
                </a:solidFill>
                <a:latin typeface="Noto Sans JP"/>
                <a:ea typeface="Noto Sans JP"/>
              </a:rPr>
              <a:t>付加価値訴求</a:t>
            </a:r>
          </a:p>
        </p:txBody>
      </p:sp>
      <p:sp>
        <p:nvSpPr>
          <p:cNvPr id="1094" name="txt"/>
          <p:cNvSpPr txBox="1"/>
          <p:nvPr/>
        </p:nvSpPr>
        <p:spPr>
          <a:xfrm>
            <a:off x="6413500" y="4470400"/>
            <a:ext cx="5080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9A9C9F"/>
                </a:solidFill>
                <a:latin typeface="JetBrains Mono"/>
                <a:ea typeface="JetBrains Mono"/>
              </a:rPr>
              <a:t>「ここで打つ理由」を可視化</a:t>
            </a:r>
          </a:p>
        </p:txBody>
      </p:sp>
      <p:sp>
        <p:nvSpPr>
          <p:cNvPr id="1095" name="rect"/>
          <p:cNvSpPr/>
          <p:nvPr/>
        </p:nvSpPr>
        <p:spPr>
          <a:xfrm>
            <a:off x="635000" y="5702300"/>
            <a:ext cx="10922000" cy="4762"/>
          </a:xfrm>
          <a:prstGeom prst="rect">
            <a:avLst/>
          </a:prstGeom>
          <a:solidFill>
            <a:srgbClr val="DCDC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" name="txt"/>
          <p:cNvSpPr txBox="1"/>
          <p:nvPr/>
        </p:nvSpPr>
        <p:spPr>
          <a:xfrm>
            <a:off x="635000" y="5810250"/>
            <a:ext cx="10922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600">
                <a:solidFill>
                  <a:srgbClr val="6B6D72"/>
                </a:solidFill>
                <a:latin typeface="JetBrains Mono"/>
                <a:ea typeface="JetBrains Mono"/>
              </a:rPr>
              <a:t>提供＝デザイン制作・クリエイティブ開発・販促クリエイティブ支援（入稿データまで）／非提供＝印刷・配送・施工・建設</a:t>
            </a:r>
          </a:p>
        </p:txBody>
      </p:sp>
      <p:sp>
        <p:nvSpPr>
          <p:cNvPr id="1097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PHOSARA_PRIC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" name="txt"/>
          <p:cNvSpPr txBox="1"/>
          <p:nvPr/>
        </p:nvSpPr>
        <p:spPr>
          <a:xfrm>
            <a:off x="635000" y="10795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 spc="400">
                <a:solidFill>
                  <a:srgbClr val="6B6D72"/>
                </a:solidFill>
                <a:latin typeface="JetBrains Mono"/>
                <a:ea typeface="JetBrains Mono"/>
              </a:rPr>
              <a:t>PRICING / MONTHLY</a:t>
            </a:r>
          </a:p>
        </p:txBody>
      </p:sp>
      <p:sp>
        <p:nvSpPr>
          <p:cNvPr id="1100" name="txt"/>
          <p:cNvSpPr txBox="1"/>
          <p:nvPr/>
        </p:nvSpPr>
        <p:spPr>
          <a:xfrm>
            <a:off x="635000" y="1301750"/>
            <a:ext cx="6350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000" b="1">
                <a:solidFill>
                  <a:srgbClr val="16171B"/>
                </a:solidFill>
                <a:latin typeface="Noto Sans JP"/>
                <a:ea typeface="Noto Sans JP"/>
              </a:rPr>
              <a:t>料金プラン</a:t>
            </a:r>
          </a:p>
        </p:txBody>
      </p:sp>
      <p:sp>
        <p:nvSpPr>
          <p:cNvPr id="1101" name="rect"/>
          <p:cNvSpPr/>
          <p:nvPr/>
        </p:nvSpPr>
        <p:spPr>
          <a:xfrm>
            <a:off x="635000" y="2159000"/>
            <a:ext cx="3429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4"/>
            </a:solidFill>
          </a:ln>
        </p:spPr>
        <p:txBody>
          <a:bodyPr/>
          <a:lstStyle/>
          <a:p/>
        </p:txBody>
      </p:sp>
      <p:sp>
        <p:nvSpPr>
          <p:cNvPr id="1102" name="txt"/>
          <p:cNvSpPr txBox="1"/>
          <p:nvPr/>
        </p:nvSpPr>
        <p:spPr>
          <a:xfrm>
            <a:off x="889000" y="2508250"/>
            <a:ext cx="2921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 spc="300">
                <a:solidFill>
                  <a:srgbClr val="6B6D72"/>
                </a:solidFill>
                <a:latin typeface="JetBrains Mono"/>
                <a:ea typeface="JetBrains Mono"/>
              </a:rPr>
              <a:t>LIGHT</a:t>
            </a:r>
          </a:p>
        </p:txBody>
      </p:sp>
      <p:sp>
        <p:nvSpPr>
          <p:cNvPr id="1103" name="txt"/>
          <p:cNvSpPr txBox="1"/>
          <p:nvPr/>
        </p:nvSpPr>
        <p:spPr>
          <a:xfrm>
            <a:off x="889000" y="2889250"/>
            <a:ext cx="2921000" cy="44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000" b="1">
                <a:solidFill>
                  <a:srgbClr val="16171B"/>
                </a:solidFill>
                <a:latin typeface="Archivo"/>
                <a:ea typeface="Archivo"/>
              </a:rPr>
              <a:t>¥60,000</a:t>
            </a:r>
          </a:p>
        </p:txBody>
      </p:sp>
      <p:sp>
        <p:nvSpPr>
          <p:cNvPr id="1104" name="txt"/>
          <p:cNvSpPr txBox="1"/>
          <p:nvPr/>
        </p:nvSpPr>
        <p:spPr>
          <a:xfrm>
            <a:off x="889000" y="3429000"/>
            <a:ext cx="2921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900">
                <a:solidFill>
                  <a:srgbClr val="6B6D72"/>
                </a:solidFill>
                <a:latin typeface="JetBrains Mono"/>
                <a:ea typeface="JetBrains Mono"/>
              </a:rPr>
              <a:t>/ 月（税別）</a:t>
            </a:r>
          </a:p>
        </p:txBody>
      </p:sp>
      <p:sp>
        <p:nvSpPr>
          <p:cNvPr id="1105" name="rect"/>
          <p:cNvSpPr/>
          <p:nvPr/>
        </p:nvSpPr>
        <p:spPr>
          <a:xfrm>
            <a:off x="889000" y="3759200"/>
            <a:ext cx="2921000" cy="4762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" name="txt"/>
          <p:cNvSpPr txBox="1"/>
          <p:nvPr/>
        </p:nvSpPr>
        <p:spPr>
          <a:xfrm>
            <a:off x="889000" y="3987800"/>
            <a:ext cx="292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400" b="1">
                <a:solidFill>
                  <a:srgbClr val="16171B"/>
                </a:solidFill>
                <a:latin typeface="Noto Sans JP"/>
                <a:ea typeface="Noto Sans JP"/>
              </a:rPr>
              <a:t>4 テーマ / 月</a:t>
            </a:r>
          </a:p>
        </p:txBody>
      </p:sp>
      <p:sp>
        <p:nvSpPr>
          <p:cNvPr id="1107" name="txt"/>
          <p:cNvSpPr txBox="1"/>
          <p:nvPr/>
        </p:nvSpPr>
        <p:spPr>
          <a:xfrm>
            <a:off x="889000" y="4381500"/>
            <a:ext cx="292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300">
                <a:solidFill>
                  <a:srgbClr val="33343A"/>
                </a:solidFill>
                <a:latin typeface="Noto Sans JP"/>
                <a:ea typeface="Noto Sans JP"/>
              </a:rPr>
              <a:t>追加テーマ ¥12,000 / 件</a:t>
            </a:r>
          </a:p>
        </p:txBody>
      </p:sp>
      <p:sp>
        <p:nvSpPr>
          <p:cNvPr id="1108" name="txt"/>
          <p:cNvSpPr txBox="1"/>
          <p:nvPr/>
        </p:nvSpPr>
        <p:spPr>
          <a:xfrm>
            <a:off x="889000" y="4775200"/>
            <a:ext cx="2921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800">
                <a:solidFill>
                  <a:srgbClr val="6B6D72"/>
                </a:solidFill>
                <a:latin typeface="JetBrains Mono"/>
                <a:ea typeface="JetBrains Mono"/>
              </a:rPr>
              <a:t>A1/A3 ・ POP ・ SNS</a:t>
            </a:r>
          </a:p>
        </p:txBody>
      </p:sp>
      <p:sp>
        <p:nvSpPr>
          <p:cNvPr id="1109" name="rect"/>
          <p:cNvSpPr/>
          <p:nvPr/>
        </p:nvSpPr>
        <p:spPr>
          <a:xfrm>
            <a:off x="4381500" y="2159000"/>
            <a:ext cx="3429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4"/>
            </a:solidFill>
          </a:ln>
        </p:spPr>
        <p:txBody>
          <a:bodyPr/>
          <a:lstStyle/>
          <a:p/>
        </p:txBody>
      </p:sp>
      <p:sp>
        <p:nvSpPr>
          <p:cNvPr id="1110" name="txt"/>
          <p:cNvSpPr txBox="1"/>
          <p:nvPr/>
        </p:nvSpPr>
        <p:spPr>
          <a:xfrm>
            <a:off x="4635500" y="2508250"/>
            <a:ext cx="2921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 spc="300">
                <a:solidFill>
                  <a:srgbClr val="6B6D72"/>
                </a:solidFill>
                <a:latin typeface="JetBrains Mono"/>
                <a:ea typeface="JetBrains Mono"/>
              </a:rPr>
              <a:t>STANDARD</a:t>
            </a:r>
          </a:p>
        </p:txBody>
      </p:sp>
      <p:sp>
        <p:nvSpPr>
          <p:cNvPr id="1111" name="txt"/>
          <p:cNvSpPr txBox="1"/>
          <p:nvPr/>
        </p:nvSpPr>
        <p:spPr>
          <a:xfrm>
            <a:off x="4635500" y="2889250"/>
            <a:ext cx="2921000" cy="44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000" b="1">
                <a:solidFill>
                  <a:srgbClr val="16171B"/>
                </a:solidFill>
                <a:latin typeface="Archivo"/>
                <a:ea typeface="Archivo"/>
              </a:rPr>
              <a:t>¥100,000</a:t>
            </a:r>
          </a:p>
        </p:txBody>
      </p:sp>
      <p:sp>
        <p:nvSpPr>
          <p:cNvPr id="1112" name="txt"/>
          <p:cNvSpPr txBox="1"/>
          <p:nvPr/>
        </p:nvSpPr>
        <p:spPr>
          <a:xfrm>
            <a:off x="4635500" y="3429000"/>
            <a:ext cx="2921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900">
                <a:solidFill>
                  <a:srgbClr val="6B6D72"/>
                </a:solidFill>
                <a:latin typeface="JetBrains Mono"/>
                <a:ea typeface="JetBrains Mono"/>
              </a:rPr>
              <a:t>/ 月（税別）</a:t>
            </a:r>
          </a:p>
        </p:txBody>
      </p:sp>
      <p:sp>
        <p:nvSpPr>
          <p:cNvPr id="1113" name="rect"/>
          <p:cNvSpPr/>
          <p:nvPr/>
        </p:nvSpPr>
        <p:spPr>
          <a:xfrm>
            <a:off x="4635500" y="3759200"/>
            <a:ext cx="2921000" cy="4762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4" name="txt"/>
          <p:cNvSpPr txBox="1"/>
          <p:nvPr/>
        </p:nvSpPr>
        <p:spPr>
          <a:xfrm>
            <a:off x="4635500" y="3987800"/>
            <a:ext cx="292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400" b="1">
                <a:solidFill>
                  <a:srgbClr val="16171B"/>
                </a:solidFill>
                <a:latin typeface="Noto Sans JP"/>
                <a:ea typeface="Noto Sans JP"/>
              </a:rPr>
              <a:t>8 テーマ / 月</a:t>
            </a:r>
          </a:p>
        </p:txBody>
      </p:sp>
      <p:sp>
        <p:nvSpPr>
          <p:cNvPr id="1115" name="txt"/>
          <p:cNvSpPr txBox="1"/>
          <p:nvPr/>
        </p:nvSpPr>
        <p:spPr>
          <a:xfrm>
            <a:off x="4635500" y="4381500"/>
            <a:ext cx="292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300">
                <a:solidFill>
                  <a:srgbClr val="33343A"/>
                </a:solidFill>
                <a:latin typeface="Noto Sans JP"/>
                <a:ea typeface="Noto Sans JP"/>
              </a:rPr>
              <a:t>追加テーマ ¥10,000 / 件</a:t>
            </a:r>
          </a:p>
        </p:txBody>
      </p:sp>
      <p:sp>
        <p:nvSpPr>
          <p:cNvPr id="1116" name="txt"/>
          <p:cNvSpPr txBox="1"/>
          <p:nvPr/>
        </p:nvSpPr>
        <p:spPr>
          <a:xfrm>
            <a:off x="4635500" y="4775200"/>
            <a:ext cx="2921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800">
                <a:solidFill>
                  <a:srgbClr val="6B6D72"/>
                </a:solidFill>
                <a:latin typeface="JetBrains Mono"/>
                <a:ea typeface="JetBrains Mono"/>
              </a:rPr>
              <a:t>＋ LINE ・ WEB</a:t>
            </a:r>
          </a:p>
        </p:txBody>
      </p:sp>
      <p:sp>
        <p:nvSpPr>
          <p:cNvPr id="1117" name="rect"/>
          <p:cNvSpPr/>
          <p:nvPr/>
        </p:nvSpPr>
        <p:spPr>
          <a:xfrm>
            <a:off x="8128000" y="2159000"/>
            <a:ext cx="3429000" cy="3810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" name="txt"/>
          <p:cNvSpPr txBox="1"/>
          <p:nvPr/>
        </p:nvSpPr>
        <p:spPr>
          <a:xfrm>
            <a:off x="8382000" y="2508250"/>
            <a:ext cx="2921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200" spc="300">
                <a:solidFill>
                  <a:srgbClr val="E60012"/>
                </a:solidFill>
                <a:latin typeface="JetBrains Mono"/>
                <a:ea typeface="JetBrains Mono"/>
              </a:rPr>
              <a:t>PREMIUM</a:t>
            </a:r>
          </a:p>
        </p:txBody>
      </p:sp>
      <p:sp>
        <p:nvSpPr>
          <p:cNvPr id="1119" name="txt"/>
          <p:cNvSpPr txBox="1"/>
          <p:nvPr/>
        </p:nvSpPr>
        <p:spPr>
          <a:xfrm>
            <a:off x="8382000" y="2889250"/>
            <a:ext cx="2921000" cy="44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000" b="1">
                <a:solidFill>
                  <a:srgbClr val="FFFFFF"/>
                </a:solidFill>
                <a:latin typeface="Archivo"/>
                <a:ea typeface="Archivo"/>
              </a:rPr>
              <a:t>¥160,000</a:t>
            </a:r>
          </a:p>
        </p:txBody>
      </p:sp>
      <p:sp>
        <p:nvSpPr>
          <p:cNvPr id="1120" name="txt"/>
          <p:cNvSpPr txBox="1"/>
          <p:nvPr/>
        </p:nvSpPr>
        <p:spPr>
          <a:xfrm>
            <a:off x="8382000" y="3429000"/>
            <a:ext cx="2921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900">
                <a:solidFill>
                  <a:srgbClr val="9A9C9F"/>
                </a:solidFill>
                <a:latin typeface="JetBrains Mono"/>
                <a:ea typeface="JetBrains Mono"/>
              </a:rPr>
              <a:t>/ 月（税別）</a:t>
            </a:r>
          </a:p>
        </p:txBody>
      </p:sp>
      <p:sp>
        <p:nvSpPr>
          <p:cNvPr id="1121" name="rect"/>
          <p:cNvSpPr/>
          <p:nvPr/>
        </p:nvSpPr>
        <p:spPr>
          <a:xfrm>
            <a:off x="8382000" y="3759200"/>
            <a:ext cx="2921000" cy="4762"/>
          </a:xfrm>
          <a:prstGeom prst="rect">
            <a:avLst/>
          </a:prstGeom>
          <a:solidFill>
            <a:srgbClr val="2a2b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" name="txt"/>
          <p:cNvSpPr txBox="1"/>
          <p:nvPr/>
        </p:nvSpPr>
        <p:spPr>
          <a:xfrm>
            <a:off x="8382000" y="3987800"/>
            <a:ext cx="292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400" b="1">
                <a:solidFill>
                  <a:srgbClr val="FFFFFF"/>
                </a:solidFill>
                <a:latin typeface="Noto Sans JP"/>
                <a:ea typeface="Noto Sans JP"/>
              </a:rPr>
              <a:t>12 テーマ / 月</a:t>
            </a:r>
          </a:p>
        </p:txBody>
      </p:sp>
      <p:sp>
        <p:nvSpPr>
          <p:cNvPr id="1123" name="txt"/>
          <p:cNvSpPr txBox="1"/>
          <p:nvPr/>
        </p:nvSpPr>
        <p:spPr>
          <a:xfrm>
            <a:off x="8382000" y="4381500"/>
            <a:ext cx="292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300">
                <a:solidFill>
                  <a:srgbClr val="cfcfc8"/>
                </a:solidFill>
                <a:latin typeface="Noto Sans JP"/>
                <a:ea typeface="Noto Sans JP"/>
              </a:rPr>
              <a:t>追加テーマ ¥9,000 / 件</a:t>
            </a:r>
          </a:p>
        </p:txBody>
      </p:sp>
      <p:sp>
        <p:nvSpPr>
          <p:cNvPr id="1124" name="txt"/>
          <p:cNvSpPr txBox="1"/>
          <p:nvPr/>
        </p:nvSpPr>
        <p:spPr>
          <a:xfrm>
            <a:off x="8382000" y="4775200"/>
            <a:ext cx="2921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800">
                <a:solidFill>
                  <a:srgbClr val="A7A8AB"/>
                </a:solidFill>
                <a:latin typeface="JetBrains Mono"/>
                <a:ea typeface="JetBrains Mono"/>
              </a:rPr>
              <a:t>＋ サイネージ ・ 運用</a:t>
            </a:r>
          </a:p>
        </p:txBody>
      </p:sp>
      <p:sp>
        <p:nvSpPr>
          <p:cNvPr id="1125" name="txt"/>
          <p:cNvSpPr txBox="1"/>
          <p:nvPr/>
        </p:nvSpPr>
        <p:spPr>
          <a:xfrm>
            <a:off x="635000" y="6223000"/>
            <a:ext cx="1092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>
                <a:solidFill>
                  <a:srgbClr val="6B6D72"/>
                </a:solidFill>
                <a:latin typeface="Noto Sans JP"/>
                <a:ea typeface="Noto Sans JP"/>
              </a:rPr>
              <a:t>※ 月額サブスクリプション（税別）。含むテーマ数を超える分は公式の追加テーマ単価で精算。サイネージ動画・運用・効果測定は PREMIUM 標準。</a:t>
            </a:r>
          </a:p>
        </p:txBody>
      </p:sp>
      <p:sp>
        <p:nvSpPr>
          <p:cNvPr id="1126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SARA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" name="txt"/>
          <p:cNvSpPr txBox="1"/>
          <p:nvPr/>
        </p:nvSpPr>
        <p:spPr>
          <a:xfrm>
            <a:off x="635000" y="11430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 spc="400">
                <a:solidFill>
                  <a:srgbClr val="6B6D72"/>
                </a:solidFill>
                <a:latin typeface="JetBrains Mono"/>
                <a:ea typeface="JetBrains Mono"/>
              </a:rPr>
              <a:t>PRODUCTION FLOW</a:t>
            </a:r>
          </a:p>
        </p:txBody>
      </p:sp>
      <p:sp>
        <p:nvSpPr>
          <p:cNvPr id="1129" name="txt"/>
          <p:cNvSpPr txBox="1"/>
          <p:nvPr/>
        </p:nvSpPr>
        <p:spPr>
          <a:xfrm>
            <a:off x="635000" y="1428750"/>
            <a:ext cx="635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600" b="1">
                <a:solidFill>
                  <a:srgbClr val="16171B"/>
                </a:solidFill>
                <a:latin typeface="Noto Sans JP"/>
                <a:ea typeface="Noto Sans JP"/>
              </a:rPr>
              <a:t>制作フロー</a:t>
            </a:r>
          </a:p>
        </p:txBody>
      </p:sp>
      <p:sp>
        <p:nvSpPr>
          <p:cNvPr id="1130" name="rect"/>
          <p:cNvSpPr/>
          <p:nvPr/>
        </p:nvSpPr>
        <p:spPr>
          <a:xfrm>
            <a:off x="812800" y="3810000"/>
            <a:ext cx="9525000" cy="9525"/>
          </a:xfrm>
          <a:prstGeom prst="rect">
            <a:avLst/>
          </a:prstGeom>
          <a:solidFill>
            <a:srgbClr val="E8E8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" name="rect"/>
          <p:cNvSpPr/>
          <p:nvPr/>
        </p:nvSpPr>
        <p:spPr>
          <a:xfrm>
            <a:off x="762000" y="37592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" name="rect"/>
          <p:cNvSpPr/>
          <p:nvPr/>
        </p:nvSpPr>
        <p:spPr>
          <a:xfrm>
            <a:off x="762000" y="3771900"/>
            <a:ext cx="88900" cy="889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" name="txt"/>
          <p:cNvSpPr txBox="1"/>
          <p:nvPr/>
        </p:nvSpPr>
        <p:spPr>
          <a:xfrm>
            <a:off x="749300" y="3175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>
                <a:solidFill>
                  <a:srgbClr val="E60012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1134" name="txt"/>
          <p:cNvSpPr txBox="1"/>
          <p:nvPr/>
        </p:nvSpPr>
        <p:spPr>
          <a:xfrm>
            <a:off x="749300" y="406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 b="1">
                <a:solidFill>
                  <a:srgbClr val="16171B"/>
                </a:solidFill>
                <a:latin typeface="Noto Sans JP"/>
                <a:ea typeface="Noto Sans JP"/>
              </a:rPr>
              <a:t>お問い合わせ</a:t>
            </a:r>
          </a:p>
        </p:txBody>
      </p:sp>
      <p:sp>
        <p:nvSpPr>
          <p:cNvPr id="1135" name="txt"/>
          <p:cNvSpPr txBox="1"/>
          <p:nvPr/>
        </p:nvSpPr>
        <p:spPr>
          <a:xfrm>
            <a:off x="749300" y="43497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9A9C9F"/>
                </a:solidFill>
                <a:latin typeface="JetBrains Mono"/>
                <a:ea typeface="JetBrains Mono"/>
              </a:rPr>
              <a:t>INQUIRY</a:t>
            </a:r>
          </a:p>
        </p:txBody>
      </p:sp>
      <p:sp>
        <p:nvSpPr>
          <p:cNvPr id="1136" name="rect"/>
          <p:cNvSpPr/>
          <p:nvPr/>
        </p:nvSpPr>
        <p:spPr>
          <a:xfrm>
            <a:off x="2552700" y="3771900"/>
            <a:ext cx="88900" cy="889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7" name="txt"/>
          <p:cNvSpPr txBox="1"/>
          <p:nvPr/>
        </p:nvSpPr>
        <p:spPr>
          <a:xfrm>
            <a:off x="2540000" y="3175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>
                <a:solidFill>
                  <a:srgbClr val="E60012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1138" name="txt"/>
          <p:cNvSpPr txBox="1"/>
          <p:nvPr/>
        </p:nvSpPr>
        <p:spPr>
          <a:xfrm>
            <a:off x="2540000" y="406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 b="1">
                <a:solidFill>
                  <a:srgbClr val="16171B"/>
                </a:solidFill>
                <a:latin typeface="Noto Sans JP"/>
                <a:ea typeface="Noto Sans JP"/>
              </a:rPr>
              <a:t>ヒアリング</a:t>
            </a:r>
          </a:p>
        </p:txBody>
      </p:sp>
      <p:sp>
        <p:nvSpPr>
          <p:cNvPr id="1139" name="txt"/>
          <p:cNvSpPr txBox="1"/>
          <p:nvPr/>
        </p:nvSpPr>
        <p:spPr>
          <a:xfrm>
            <a:off x="2540000" y="43497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9A9C9F"/>
                </a:solidFill>
                <a:latin typeface="JetBrains Mono"/>
                <a:ea typeface="JetBrains Mono"/>
              </a:rPr>
              <a:t>HEARING</a:t>
            </a:r>
          </a:p>
        </p:txBody>
      </p:sp>
      <p:sp>
        <p:nvSpPr>
          <p:cNvPr id="1140" name="rect"/>
          <p:cNvSpPr/>
          <p:nvPr/>
        </p:nvSpPr>
        <p:spPr>
          <a:xfrm>
            <a:off x="4394200" y="3771900"/>
            <a:ext cx="88900" cy="889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1" name="txt"/>
          <p:cNvSpPr txBox="1"/>
          <p:nvPr/>
        </p:nvSpPr>
        <p:spPr>
          <a:xfrm>
            <a:off x="4381500" y="3175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>
                <a:solidFill>
                  <a:srgbClr val="E60012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1142" name="txt"/>
          <p:cNvSpPr txBox="1"/>
          <p:nvPr/>
        </p:nvSpPr>
        <p:spPr>
          <a:xfrm>
            <a:off x="4381500" y="406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 b="1">
                <a:solidFill>
                  <a:srgbClr val="16171B"/>
                </a:solidFill>
                <a:latin typeface="Noto Sans JP"/>
                <a:ea typeface="Noto Sans JP"/>
              </a:rPr>
              <a:t>テーマ選定</a:t>
            </a:r>
          </a:p>
        </p:txBody>
      </p:sp>
      <p:sp>
        <p:nvSpPr>
          <p:cNvPr id="1143" name="txt"/>
          <p:cNvSpPr txBox="1"/>
          <p:nvPr/>
        </p:nvSpPr>
        <p:spPr>
          <a:xfrm>
            <a:off x="4381500" y="43497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9A9C9F"/>
                </a:solidFill>
                <a:latin typeface="JetBrains Mono"/>
                <a:ea typeface="JetBrains Mono"/>
              </a:rPr>
              <a:t>THEME</a:t>
            </a:r>
          </a:p>
        </p:txBody>
      </p:sp>
      <p:sp>
        <p:nvSpPr>
          <p:cNvPr id="1144" name="rect"/>
          <p:cNvSpPr/>
          <p:nvPr/>
        </p:nvSpPr>
        <p:spPr>
          <a:xfrm>
            <a:off x="6235700" y="3771900"/>
            <a:ext cx="88900" cy="889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" name="txt"/>
          <p:cNvSpPr txBox="1"/>
          <p:nvPr/>
        </p:nvSpPr>
        <p:spPr>
          <a:xfrm>
            <a:off x="6223000" y="3175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>
                <a:solidFill>
                  <a:srgbClr val="E60012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1146" name="txt"/>
          <p:cNvSpPr txBox="1"/>
          <p:nvPr/>
        </p:nvSpPr>
        <p:spPr>
          <a:xfrm>
            <a:off x="6223000" y="406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 b="1">
                <a:solidFill>
                  <a:srgbClr val="16171B"/>
                </a:solidFill>
                <a:latin typeface="Noto Sans JP"/>
                <a:ea typeface="Noto Sans JP"/>
              </a:rPr>
              <a:t>クリエイティブ制作</a:t>
            </a:r>
          </a:p>
        </p:txBody>
      </p:sp>
      <p:sp>
        <p:nvSpPr>
          <p:cNvPr id="1147" name="txt"/>
          <p:cNvSpPr txBox="1"/>
          <p:nvPr/>
        </p:nvSpPr>
        <p:spPr>
          <a:xfrm>
            <a:off x="6223000" y="43497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9A9C9F"/>
                </a:solidFill>
                <a:latin typeface="JetBrains Mono"/>
                <a:ea typeface="JetBrains Mono"/>
              </a:rPr>
              <a:t>PRODUCTION</a:t>
            </a:r>
          </a:p>
        </p:txBody>
      </p:sp>
      <p:sp>
        <p:nvSpPr>
          <p:cNvPr id="1148" name="rect"/>
          <p:cNvSpPr/>
          <p:nvPr/>
        </p:nvSpPr>
        <p:spPr>
          <a:xfrm>
            <a:off x="8305800" y="3771900"/>
            <a:ext cx="88900" cy="889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" name="txt"/>
          <p:cNvSpPr txBox="1"/>
          <p:nvPr/>
        </p:nvSpPr>
        <p:spPr>
          <a:xfrm>
            <a:off x="8293100" y="3175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>
                <a:solidFill>
                  <a:srgbClr val="E60012"/>
                </a:solidFill>
                <a:latin typeface="JetBrains Mono"/>
                <a:ea typeface="JetBrains Mono"/>
              </a:rPr>
              <a:t>05</a:t>
            </a:r>
          </a:p>
        </p:txBody>
      </p:sp>
      <p:sp>
        <p:nvSpPr>
          <p:cNvPr id="1150" name="txt"/>
          <p:cNvSpPr txBox="1"/>
          <p:nvPr/>
        </p:nvSpPr>
        <p:spPr>
          <a:xfrm>
            <a:off x="8293100" y="406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 b="1">
                <a:solidFill>
                  <a:srgbClr val="16171B"/>
                </a:solidFill>
                <a:latin typeface="Noto Sans JP"/>
                <a:ea typeface="Noto Sans JP"/>
              </a:rPr>
              <a:t>確認・修正</a:t>
            </a:r>
          </a:p>
        </p:txBody>
      </p:sp>
      <p:sp>
        <p:nvSpPr>
          <p:cNvPr id="1151" name="txt"/>
          <p:cNvSpPr txBox="1"/>
          <p:nvPr/>
        </p:nvSpPr>
        <p:spPr>
          <a:xfrm>
            <a:off x="8293100" y="43497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9A9C9F"/>
                </a:solidFill>
                <a:latin typeface="JetBrains Mono"/>
                <a:ea typeface="JetBrains Mono"/>
              </a:rPr>
              <a:t>REVIEW</a:t>
            </a:r>
          </a:p>
        </p:txBody>
      </p:sp>
      <p:sp>
        <p:nvSpPr>
          <p:cNvPr id="1152" name="rect"/>
          <p:cNvSpPr/>
          <p:nvPr/>
        </p:nvSpPr>
        <p:spPr>
          <a:xfrm>
            <a:off x="10248900" y="3771900"/>
            <a:ext cx="88900" cy="889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" name="txt"/>
          <p:cNvSpPr txBox="1"/>
          <p:nvPr/>
        </p:nvSpPr>
        <p:spPr>
          <a:xfrm>
            <a:off x="10236200" y="3175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3200">
                <a:solidFill>
                  <a:srgbClr val="E60012"/>
                </a:solidFill>
                <a:latin typeface="JetBrains Mono"/>
                <a:ea typeface="JetBrains Mono"/>
              </a:rPr>
              <a:t>06</a:t>
            </a:r>
          </a:p>
        </p:txBody>
      </p:sp>
      <p:sp>
        <p:nvSpPr>
          <p:cNvPr id="1154" name="txt"/>
          <p:cNvSpPr txBox="1"/>
          <p:nvPr/>
        </p:nvSpPr>
        <p:spPr>
          <a:xfrm>
            <a:off x="10236200" y="406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400" b="1">
                <a:solidFill>
                  <a:srgbClr val="16171B"/>
                </a:solidFill>
                <a:latin typeface="Noto Sans JP"/>
                <a:ea typeface="Noto Sans JP"/>
              </a:rPr>
              <a:t>納品</a:t>
            </a:r>
          </a:p>
        </p:txBody>
      </p:sp>
      <p:sp>
        <p:nvSpPr>
          <p:cNvPr id="1155" name="txt"/>
          <p:cNvSpPr txBox="1"/>
          <p:nvPr/>
        </p:nvSpPr>
        <p:spPr>
          <a:xfrm>
            <a:off x="10236200" y="43497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1500" spc="100">
                <a:solidFill>
                  <a:srgbClr val="9A9C9F"/>
                </a:solidFill>
                <a:latin typeface="JetBrains Mono"/>
                <a:ea typeface="JetBrains Mono"/>
              </a:rPr>
              <a:t>DELIVERY</a:t>
            </a:r>
          </a:p>
        </p:txBody>
      </p:sp>
      <p:sp>
        <p:nvSpPr>
          <p:cNvPr id="1156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HOSARA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58" name="brand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762000"/>
            <a:ext cx="952500" cy="990600"/>
          </a:xfrm>
          <a:prstGeom prst="rect">
            <a:avLst/>
          </a:prstGeom>
        </p:spPr>
      </p:pic>
      <p:pic>
        <p:nvPicPr>
          <p:cNvPr id="1159" name="brand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032000"/>
            <a:ext cx="3429000" cy="381000"/>
          </a:xfrm>
          <a:prstGeom prst="rect">
            <a:avLst/>
          </a:prstGeom>
        </p:spPr>
      </p:pic>
      <p:sp>
        <p:nvSpPr>
          <p:cNvPr id="1160" name="rect"/>
          <p:cNvSpPr/>
          <p:nvPr/>
        </p:nvSpPr>
        <p:spPr>
          <a:xfrm>
            <a:off x="635000" y="3810000"/>
            <a:ext cx="5080000" cy="4762"/>
          </a:xfrm>
          <a:prstGeom prst="rect">
            <a:avLst/>
          </a:prstGeom>
          <a:solidFill>
            <a:srgbClr val="2a2b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" name="rect"/>
          <p:cNvSpPr/>
          <p:nvPr/>
        </p:nvSpPr>
        <p:spPr>
          <a:xfrm>
            <a:off x="635000" y="3784600"/>
            <a:ext cx="63500" cy="50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Text Placeholder 10"/>
          <p:cNvSpPr>
            <a:spLocks noGrp="1"/>
          </p:cNvSpPr>
          <p:nvPr>
            <p:ph type="body" idx="10"/>
          </p:nvPr>
        </p:nvSpPr>
        <p:spPr>
          <a:xfrm>
            <a:off x="635000" y="2794000"/>
            <a:ext cx="10287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6600">
                <a:solidFill>
                  <a:srgbClr val="FFFFFF"/>
                </a:solidFill>
                <a:latin typeface="Noto Serif JP"/>
                <a:ea typeface="Noto Serif JP"/>
              </a:rPr>
              <a:t>その販促に、光を。</a:t>
            </a:r>
          </a:p>
        </p:txBody>
      </p:sp>
      <p:sp>
        <p:nvSpPr>
          <p:cNvPr id="311" name="Text Placeholder 11"/>
          <p:cNvSpPr>
            <a:spLocks noGrp="1"/>
          </p:cNvSpPr>
          <p:nvPr>
            <p:ph type="body" idx="11"/>
          </p:nvPr>
        </p:nvSpPr>
        <p:spPr>
          <a:xfrm>
            <a:off x="635000" y="4127500"/>
            <a:ext cx="7620000" cy="127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600">
                <a:solidFill>
                  <a:srgbClr val="A7A8AB"/>
                </a:solidFill>
                <a:latin typeface="JetBrains Mono"/>
                <a:ea typeface="JetBrains Mono"/>
              </a:rPr>
              <a:t>WEB —— phosara.example</a:t>
            </a:r>
          </a:p>
          <a:p>
            <a:pPr algn="l"/>
            <a:r>
              <a:rPr lang="ja-JP" sz="2600">
                <a:solidFill>
                  <a:srgbClr val="A7A8AB"/>
                </a:solidFill>
                <a:latin typeface="JetBrains Mono"/>
                <a:ea typeface="JetBrains Mono"/>
              </a:rPr>
              <a:t>MAIL —— hello@phosara.example</a:t>
            </a:r>
          </a:p>
          <a:p>
            <a:pPr algn="l"/>
            <a:r>
              <a:rPr lang="ja-JP" sz="2600">
                <a:solidFill>
                  <a:srgbClr val="A7A8AB"/>
                </a:solidFill>
                <a:latin typeface="JetBrains Mono"/>
                <a:ea typeface="JetBrains Mono"/>
              </a:rPr>
              <a:t>TEL ——— 00-0000-0000</a:t>
            </a:r>
          </a:p>
        </p:txBody>
      </p:sp>
      <p:sp>
        <p:nvSpPr>
          <p:cNvPr id="1162" name="txt"/>
          <p:cNvSpPr txBox="1"/>
          <p:nvPr/>
        </p:nvSpPr>
        <p:spPr>
          <a:xfrm>
            <a:off x="635000" y="635000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ja-JP" sz="2000">
                <a:solidFill>
                  <a:srgbClr val="6B6D72"/>
                </a:solidFill>
                <a:latin typeface="JetBrains Mono"/>
                <a:ea typeface="JetBrains Mono"/>
              </a:rPr>
              <a:t>© PHOSARA — PROMOTION CREATIVE PARTNER</a:t>
            </a:r>
          </a:p>
        </p:txBody>
      </p:sp>
      <p:sp>
        <p:nvSpPr>
          <p:cNvPr id="1163" name="pageno"/>
          <p:cNvSpPr txBox="1"/>
          <p:nvPr/>
        </p:nvSpPr>
        <p:spPr>
          <a:xfrm>
            <a:off x="10541000" y="6350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B5B5B5B5-0000-0000-0000-000000000001}" type="slidenum">
              <a:rPr lang="en-US" sz="2000">
                <a:solidFill>
                  <a:srgbClr val="6B6D72"/>
                </a:solidFill>
                <a:latin typeface="JetBrains Mono"/>
              </a:rPr>
              <a:t>2</a:t>
            </a:fld>
            <a:r>
              <a:rPr lang="en-US" sz="2000">
                <a:solidFill>
                  <a:srgbClr val="6B6D72"/>
                </a:solidFill>
                <a:latin typeface="JetBrains Mono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990600" y="4953000"/>
            <a:ext cx="5969000" cy="381000"/>
          </a:xfrm>
        </p:spPr>
        <p:txBody>
          <a:bodyPr/>
          <a:lstStyle/>
          <a:p>
            <a:pPr>
              <a:buNone/>
            </a:pPr>
            <a:r>
              <a:rPr sz="2000">
                <a:solidFill>
                  <a:srgbClr val="76777B"/>
                </a:solidFill>
                <a:latin typeface="Noto Sans JP"/>
              </a:rPr>
              <a:t>パチンコホール 販促セールス版 / Pachinko Hall Sales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635000" y="2286000"/>
            <a:ext cx="10287000" cy="1333500"/>
          </a:xfrm>
        </p:spPr>
        <p:txBody>
          <a:bodyPr/>
          <a:lstStyle/>
          <a:p>
            <a:pPr>
              <a:buNone/>
            </a:pPr>
            <a:r>
              <a:rPr sz="6400">
                <a:solidFill>
                  <a:srgbClr val="16171B"/>
                </a:solidFill>
                <a:latin typeface="Noto Serif JP"/>
              </a:rPr>
              <a:t>見えない価値を、</a:t>
            </a:r>
          </a:p>
          <a:p>
            <a:pPr>
              <a:buNone/>
            </a:pPr>
            <a:r>
              <a:rPr sz="6400">
                <a:solidFill>
                  <a:srgbClr val="16171B"/>
                </a:solidFill>
                <a:latin typeface="Noto Serif JP"/>
              </a:rPr>
              <a:t>可視化する。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8890000" cy="8890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33343A"/>
                </a:solidFill>
                <a:latin typeface="Noto Sans JP"/>
              </a:rPr>
              <a:t>PHOSARAは、ポスターや媒体を売る会社ではありません。</a:t>
            </a:r>
          </a:p>
          <a:p>
            <a:pPr>
              <a:buNone/>
            </a:pPr>
            <a:r>
              <a:rPr sz="2600">
                <a:solidFill>
                  <a:srgbClr val="33343A"/>
                </a:solidFill>
                <a:latin typeface="Noto Sans JP"/>
              </a:rPr>
              <a:t>ホールの集客を「テーマ」で動かす、販促のクリエイティブ・パートナーです。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5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idx="16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idx="17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新台導入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新台導入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A1/A3/POP/LINE/WEB/SNS/Sign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12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PREMIUM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10–14営業日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オススメ機種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オススメ機種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A1/A3/POP/SNS/WEB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8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STANDARD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7–10営業日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機種カテゴリー訴求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機種カテゴリー訴求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A1/A3/POP/SNS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7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STANDARD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7–10営業日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来店・ゲスト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来店・ゲスト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A1/A3/LINE/SNS/Sign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10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PREMIUM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10–14営業日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景品プロモーション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景品プロモーション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A1/A3/POP/SNS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7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STANDARD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7営業日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週末プロモーション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週末プロモーション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A1/POP/LINE/SNS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6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LIGHT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5営業日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営業スケジュール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営業スケジュール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A1/POP/SNS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5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LIGHT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5営業日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T109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付加価値訴求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付加価値訴求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A1/A3/LINE/WEB/SNS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9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STANDARD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7–10営業日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09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T110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会員募集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会員募集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A1/A3/POP/LINE/SNS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8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STANDARD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7営業日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620000" y="1905000"/>
            <a:ext cx="3810000" cy="1079500"/>
          </a:xfrm>
        </p:spPr>
        <p:txBody>
          <a:bodyPr/>
          <a:lstStyle/>
          <a:p>
            <a:pPr>
              <a:buNone/>
            </a:pPr>
            <a:r>
              <a:rPr sz="9600" b="1">
                <a:solidFill>
                  <a:srgbClr val="E60012"/>
                </a:solidFill>
                <a:latin typeface="Archivo Expanded"/>
              </a:rPr>
              <a:t>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658100" y="3302000"/>
            <a:ext cx="3810000" cy="2921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E60012"/>
                </a:solidFill>
                <a:latin typeface="JetBrains Mono"/>
              </a:rPr>
              <a:t>T201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658100" y="3657600"/>
            <a:ext cx="4064000" cy="381000"/>
          </a:xfrm>
        </p:spPr>
        <p:txBody>
          <a:bodyPr/>
          <a:lstStyle/>
          <a:p>
            <a:pPr>
              <a:buNone/>
            </a:pPr>
            <a:r>
              <a:rPr sz="4000">
                <a:solidFill>
                  <a:srgbClr val="A7A8AB"/>
                </a:solidFill>
                <a:latin typeface="Noto Sans JP"/>
              </a:rPr>
              <a:t>周年プロモーション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658100" y="4114800"/>
            <a:ext cx="4064000" cy="317500"/>
          </a:xfrm>
        </p:spPr>
        <p:txBody>
          <a:bodyPr/>
          <a:lstStyle/>
          <a:p>
            <a:pPr>
              <a:buNone/>
            </a:pPr>
            <a:r>
              <a:rPr sz="2400">
                <a:solidFill>
                  <a:srgbClr val="76777B"/>
                </a:solidFill>
                <a:latin typeface="Noto Sans JP"/>
              </a:rPr>
              <a:t>（キャッチコピーを入力）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6350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周年プロモーション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28321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1600">
                <a:solidFill>
                  <a:srgbClr val="16171B"/>
                </a:solidFill>
                <a:latin typeface="JetBrains Mono"/>
              </a:rPr>
              <a:t>A1/A3/POP/LINE/WEB/SNS/Sign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>
          <a:xfrm>
            <a:off x="50292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14 点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>
          <a:xfrm>
            <a:off x="7226300" y="6045200"/>
            <a:ext cx="21590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E60012"/>
                </a:solidFill>
                <a:latin typeface="Noto Sans JP"/>
              </a:rPr>
              <a:t>PREMIUM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xfrm>
            <a:off x="9423400" y="6045200"/>
            <a:ext cx="2133600" cy="254000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16171B"/>
                </a:solidFill>
                <a:latin typeface="Noto Sans JP"/>
              </a:rPr>
              <a:t>15–20営業日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635000" y="2794000"/>
            <a:ext cx="10287000" cy="762000"/>
          </a:xfrm>
        </p:spPr>
        <p:txBody>
          <a:bodyPr/>
          <a:lstStyle/>
          <a:p>
            <a:pPr>
              <a:buNone/>
            </a:pPr>
            <a:r>
              <a:rPr sz="6600">
                <a:solidFill>
                  <a:srgbClr val="FFFFFF"/>
                </a:solidFill>
                <a:latin typeface="Noto Serif JP"/>
              </a:rPr>
              <a:t>その販促に、光を。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635000" y="4127500"/>
            <a:ext cx="7620000" cy="1270000"/>
          </a:xfrm>
        </p:spPr>
        <p:txBody>
          <a:bodyPr/>
          <a:lstStyle/>
          <a:p>
            <a:pPr>
              <a:buNone/>
            </a:pPr>
            <a:r>
              <a:rPr sz="2600">
                <a:solidFill>
                  <a:srgbClr val="A7A8AB"/>
                </a:solidFill>
                <a:latin typeface="JetBrains Mono"/>
              </a:rPr>
              <a:t>WEB —— phosara.example</a:t>
            </a:r>
          </a:p>
          <a:p>
            <a:pPr>
              <a:buNone/>
            </a:pPr>
            <a:r>
              <a:rPr sz="2600">
                <a:solidFill>
                  <a:srgbClr val="A7A8AB"/>
                </a:solidFill>
                <a:latin typeface="JetBrains Mono"/>
              </a:rPr>
              <a:t>MAIL —— hello@phosara.example</a:t>
            </a:r>
          </a:p>
          <a:p>
            <a:pPr>
              <a:buNone/>
            </a:pPr>
            <a:r>
              <a:rPr sz="2600">
                <a:solidFill>
                  <a:srgbClr val="A7A8AB"/>
                </a:solidFill>
                <a:latin typeface="JetBrains Mono"/>
              </a:rPr>
              <a:t>TEL ——— 00-0000-0000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0B0D"/>
      </a:dk2>
      <a:lt2>
        <a:srgbClr val="F4F4EF"/>
      </a:lt2>
      <a:accent1>
        <a:srgbClr val="E60012"/>
      </a:accent1>
      <a:accent2>
        <a:srgbClr val="16171B"/>
      </a:accent2>
      <a:accent3>
        <a:srgbClr val="6B6D72"/>
      </a:accent3>
      <a:accent4>
        <a:srgbClr val="DCDCD4"/>
      </a:accent4>
      <a:accent5>
        <a:srgbClr val="0B0B0D"/>
      </a:accent5>
      <a:accent6>
        <a:srgbClr val="FFFFFF"/>
      </a:accent6>
      <a:hlink>
        <a:srgbClr val="E60012"/>
      </a:hlink>
      <a:folHlink>
        <a:srgbClr val="E60012"/>
      </a:folHlink>
    </a:clrScheme>
    <a:fontScheme name="Office">
      <a:majorFont>
        <a:latin typeface="Archivo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JP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